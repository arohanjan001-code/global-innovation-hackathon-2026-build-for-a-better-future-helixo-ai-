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Dr. S. &amp; S.S. Ghandhy Government Engineering College, Surat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Department of Electronics &amp; Communication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5200" b="1">
                <a:solidFill>
                  <a:srgbClr val="222233"/>
                </a:solidFill>
                <a:latin typeface="Calibri"/>
              </a:defRPr>
            </a:pPr>
            <a:r>
              <a:t>Helixo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200" b="0">
                <a:solidFill>
                  <a:srgbClr val="1B6BB5"/>
                </a:solidFill>
                <a:latin typeface="Calibri"/>
              </a:defRPr>
            </a:pPr>
            <a:r>
              <a:t>AI-Based Helmet Detection &amp; Engine Safety Lock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228600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914400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444455"/>
                </a:solidFill>
                <a:latin typeface="Calibri"/>
              </a:defRPr>
            </a:pPr>
            <a:r>
              <a:t>Proactive Edge-Computing for Real-Time Helmet Compliance &amp; Ignition Interlock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3200400" cy="4114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6BB5"/>
                </a:solidFill>
                <a:latin typeface="Calibri"/>
              </a:defRPr>
            </a:pPr>
            <a:r>
              <a:t>Global Innovation Hackathon 2026 – Build for a Better Future  |  SSIP 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7315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300" b="1">
                <a:solidFill>
                  <a:srgbClr val="222233"/>
                </a:solidFill>
                <a:latin typeface="Calibri"/>
              </a:defRPr>
            </a:pPr>
            <a:r>
              <a:t>Team Leader: Arohanjan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7315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0">
                <a:solidFill>
                  <a:srgbClr val="444455"/>
                </a:solidFill>
                <a:latin typeface="Calibri"/>
              </a:defRPr>
            </a:pPr>
            <a:r>
              <a:t>Arohanjan (ECE)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arohanjan001@gmail.com  |  +91 9023836708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Why This Project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035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44455"/>
                </a:solidFill>
                <a:latin typeface="Calibri"/>
              </a:defRPr>
            </a:pPr>
            <a:r>
              <a:t>▸ India has one of the highest road accident fatality rates globally</a:t>
            </a:r>
          </a:p>
          <a:p>
            <a:pPr>
              <a:spcAft>
                <a:spcPts val="600"/>
              </a:spcAft>
              <a:defRPr sz="1200" b="0">
                <a:solidFill>
                  <a:srgbClr val="444455"/>
                </a:solidFill>
                <a:latin typeface="Calibri"/>
              </a:defRPr>
            </a:pPr>
            <a:r>
              <a:t>▸ Over 1.5 lakh deaths annually — ~40% are two-wheeler riders</a:t>
            </a:r>
          </a:p>
          <a:p>
            <a:pPr>
              <a:spcAft>
                <a:spcPts val="600"/>
              </a:spcAft>
              <a:defRPr sz="1200" b="0">
                <a:solidFill>
                  <a:srgbClr val="444455"/>
                </a:solidFill>
                <a:latin typeface="Calibri"/>
              </a:defRPr>
            </a:pPr>
            <a:r>
              <a:t>▸ Helmet compliance among two-wheeler riders remains critically low</a:t>
            </a:r>
          </a:p>
          <a:p>
            <a:pPr>
              <a:spcAft>
                <a:spcPts val="600"/>
              </a:spcAft>
              <a:defRPr sz="1200" b="0">
                <a:solidFill>
                  <a:srgbClr val="444455"/>
                </a:solidFill>
                <a:latin typeface="Calibri"/>
              </a:defRPr>
            </a:pPr>
            <a:r>
              <a:t>▸ Current system is penalty-based — fines imposed AFTER violation</a:t>
            </a:r>
          </a:p>
          <a:p>
            <a:pPr>
              <a:spcAft>
                <a:spcPts val="600"/>
              </a:spcAft>
              <a:defRPr sz="1200" b="0">
                <a:solidFill>
                  <a:srgbClr val="444455"/>
                </a:solidFill>
                <a:latin typeface="Calibri"/>
              </a:defRPr>
            </a:pPr>
            <a:r>
              <a:t>▸ No real-time prevention mechanism exists to stop unsafe riding</a:t>
            </a:r>
          </a:p>
          <a:p>
            <a:pPr>
              <a:spcAft>
                <a:spcPts val="600"/>
              </a:spcAft>
              <a:defRPr sz="1200" b="0">
                <a:solidFill>
                  <a:srgbClr val="444455"/>
                </a:solidFill>
                <a:latin typeface="Calibri"/>
              </a:defRPr>
            </a:pPr>
            <a:r>
              <a:t>▸ Riders are fined ₹1,000 under MV Act, yet violations continue</a:t>
            </a:r>
          </a:p>
          <a:p>
            <a:pPr>
              <a:spcAft>
                <a:spcPts val="600"/>
              </a:spcAft>
              <a:defRPr sz="1200" b="0">
                <a:solidFill>
                  <a:srgbClr val="444455"/>
                </a:solidFill>
                <a:latin typeface="Calibri"/>
              </a:defRPr>
            </a:pPr>
            <a:r>
              <a:t>▸ Rural areas have minimal traffic enforcement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03520" cy="26517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47548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C2626"/>
                </a:solidFill>
                <a:latin typeface="Calibri"/>
              </a:defRPr>
            </a:pPr>
            <a:r>
              <a:t>▸ Reactive System: Penalty after accident/violation</a:t>
            </a:r>
          </a:p>
          <a:p>
            <a:pPr>
              <a:spcAft>
                <a:spcPts val="400"/>
              </a:spcAft>
              <a:defRPr sz="1200" b="1">
                <a:solidFill>
                  <a:srgbClr val="DC2626"/>
                </a:solidFill>
                <a:latin typeface="Calibri"/>
              </a:defRPr>
            </a:pPr>
            <a:r>
              <a:t>▸ No Prevention: Engine starts regardless of helmet</a:t>
            </a:r>
          </a:p>
          <a:p>
            <a:pPr>
              <a:spcAft>
                <a:spcPts val="400"/>
              </a:spcAft>
              <a:defRPr sz="1200" b="0">
                <a:solidFill>
                  <a:srgbClr val="444455"/>
                </a:solidFill>
                <a:latin typeface="Calibri"/>
              </a:defRPr>
            </a:pPr>
            <a:r>
              <a:t>▸ Human Dependency: Relies on police presence</a:t>
            </a:r>
          </a:p>
          <a:p>
            <a:pPr>
              <a:spcAft>
                <a:spcPts val="400"/>
              </a:spcAft>
              <a:defRPr sz="1200" b="0">
                <a:solidFill>
                  <a:srgbClr val="444455"/>
                </a:solidFill>
                <a:latin typeface="Calibri"/>
              </a:defRPr>
            </a:pPr>
            <a:r>
              <a:t>▸ Zero Automation: No technology-driven enforcement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26280"/>
            <a:ext cx="5303520" cy="155448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709160"/>
            <a:ext cx="47548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Our Approach: Reactive → Preventive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074920"/>
            <a:ext cx="475488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Integrate AI-based helmet detection directly into the vehicle to prevent ignition without helmet usage. Works with ANY standard helmet — no RFID, Bluetooth, or custom tags.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What We Aim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🎯  Primary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2"/>
            <a:ext cx="493776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Develop an AI-based system that ensures helmet usage by preventing motorcycle ignition without a helmet and monitoring rider safety in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55648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📷  Real-Time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93776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Use camera-based detection with YOLOv8-nano AI model to identify helmet presence with 99.87% precision using sliding window confidence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64408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⚙️  Ignition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93776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Implement relay-based ignition control that blocks engine start when helmet is not detected (≥70% confidence threshold over 50 frames).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546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64408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🔄  Continuous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93592"/>
            <a:ext cx="493776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Monitor helmet usage during the ride with gradual speed reduction and controlled stop if helmet is removed mid-ride.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🚨  Emergency 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02352"/>
            <a:ext cx="493776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Provide time-limited, internally logged emergency bypass for critical situations without compromising overall safety.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6634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773168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📉  Under ₹2,000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02352"/>
            <a:ext cx="493776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Direct ESP32-S3 embedded system deployment at ₹1,900–₹2,200 manufacturing cost per unit — affordable for mass adoption.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From Reactive Fines to Proactive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600" b="1">
                <a:solidFill>
                  <a:srgbClr val="1B6BB5"/>
                </a:solidFill>
                <a:latin typeface="Calibri"/>
              </a:defRPr>
            </a:pPr>
            <a:r>
              <a:t>How Helixo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1206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OV2640/OV3660 camera mounts on instrument cluster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ESP32-S3 runs YOLOv8-nano AI model locally (offline)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50-frame sliding window (10 sec) analyzes helmet confidence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If confidence ≥ 70%: Relay ON → Engine starts ✔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If confidence &lt; 70%: Relay OFF → Engine blocked ✘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Works with ANY standard helmet — no tags needed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Zero internet connectivity required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Buzzer + LED provide audio-visual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1188720" cy="868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B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21808"/>
            <a:ext cx="10972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500" b="1">
                <a:solidFill>
                  <a:srgbClr val="1B6BB5"/>
                </a:solidFill>
                <a:latin typeface="Calibri"/>
              </a:defRPr>
            </a:pPr>
            <a:r>
              <a:t>99.87%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87568"/>
            <a:ext cx="10972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212080"/>
            <a:ext cx="1188720" cy="868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B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2808" y="5321808"/>
            <a:ext cx="10972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500" b="1">
                <a:solidFill>
                  <a:srgbClr val="1B6BB5"/>
                </a:solidFill>
                <a:latin typeface="Calibri"/>
              </a:defRPr>
            </a:pPr>
            <a:r>
              <a:t>97.50%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8" y="5687568"/>
            <a:ext cx="10972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mAP@50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45536" y="5212080"/>
            <a:ext cx="1188720" cy="868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B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1256" y="5321808"/>
            <a:ext cx="10972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500" b="1">
                <a:solidFill>
                  <a:srgbClr val="1B6BB5"/>
                </a:solidFill>
                <a:latin typeface="Calibri"/>
              </a:defRPr>
            </a:pPr>
            <a:r>
              <a:t>&lt;300ms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5687568"/>
            <a:ext cx="10972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3" y="5212080"/>
            <a:ext cx="1188720" cy="868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B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3" y="5321808"/>
            <a:ext cx="10972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500" b="1">
                <a:solidFill>
                  <a:srgbClr val="1B6BB5"/>
                </a:solidFill>
                <a:latin typeface="Calibri"/>
              </a:defRPr>
            </a:pPr>
            <a:r>
              <a:t>₹2,000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3" y="5687568"/>
            <a:ext cx="10972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Unit Cost</a:t>
            </a:r>
          </a:p>
        </p:txBody>
      </p:sp>
      <p:pic>
        <p:nvPicPr>
          <p:cNvPr id="19" name="Picture 18" descr="helixo_solution_flow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4480560" cy="4480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Circuit Design &amp; Hardware Architecture</a:t>
            </a:r>
          </a:p>
        </p:txBody>
      </p:sp>
      <p:pic>
        <p:nvPicPr>
          <p:cNvPr id="5" name="Picture 4" descr="esp32_circui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452628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600200"/>
            <a:ext cx="63093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600" b="1">
                <a:solidFill>
                  <a:srgbClr val="1B6BB5"/>
                </a:solidFill>
                <a:latin typeface="Calibri"/>
              </a:defRPr>
            </a:pPr>
            <a:r>
              <a:t>Key Components &amp; Wiring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011680"/>
            <a:ext cx="2194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▸ ESP32-S3 N16R8 MCU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11680"/>
            <a:ext cx="41148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16MB Flash, 8MB PSRAM — executes YOLOv8-nano TFLite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478024"/>
            <a:ext cx="2194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▸ OV2640/OV3660 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478024"/>
            <a:ext cx="41148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DVP interface camera capturing real-time 5-15 FPS frames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944368"/>
            <a:ext cx="2194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▸ 5V Relay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44368"/>
            <a:ext cx="41148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Opto-isolated relay connected in series with bike ignition coil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410712"/>
            <a:ext cx="2194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▸ LM2596 Buck Converter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410712"/>
            <a:ext cx="41148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Step-down converter (12V bike battery → regulated 5V DC)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77056"/>
            <a:ext cx="2194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▸ Active Buzzer &amp; LEDs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877056"/>
            <a:ext cx="41148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Green (ignition ON), Red (blocked), Buzzer audio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343400"/>
            <a:ext cx="2194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▸ 850nm IR LEDs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343400"/>
            <a:ext cx="41148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Infrared illumination array for night-vision helmet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809744"/>
            <a:ext cx="2194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▸ Emergency Push Button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809744"/>
            <a:ext cx="41148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Tactile switch for time-limited, logged emergency override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5349240"/>
            <a:ext cx="6309360" cy="7772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5440680"/>
            <a:ext cx="594360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⚡ Signal Flow: 12V Battery → LM2596 (5V) → ESP32-S3 → Camera (DVP) → AI Inference → GPIO 5 → Opto Relay → Ignition Coil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 &amp;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AI Detection Pipeline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600" b="1">
                <a:solidFill>
                  <a:srgbClr val="1B6BB5"/>
                </a:solidFill>
                <a:latin typeface="Calibri"/>
              </a:defRPr>
            </a:pPr>
            <a:r>
              <a:t>Detection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444455"/>
                </a:solidFill>
                <a:latin typeface="Calibri"/>
              </a:defRPr>
            </a:pPr>
            <a:r>
              <a:t>▸ Camera captures frames at 5–15 FPS continuously</a:t>
            </a:r>
          </a:p>
          <a:p>
            <a:pPr>
              <a:spcAft>
                <a:spcPts val="200"/>
              </a:spcAft>
              <a:defRPr sz="1050" b="0">
                <a:solidFill>
                  <a:srgbClr val="444455"/>
                </a:solidFill>
                <a:latin typeface="Calibri"/>
              </a:defRPr>
            </a:pPr>
            <a:r>
              <a:t>▸ YOLOv8-nano model processes each frame on ESP32-S3</a:t>
            </a:r>
          </a:p>
          <a:p>
            <a:pPr>
              <a:spcAft>
                <a:spcPts val="200"/>
              </a:spcAft>
              <a:defRPr sz="1050" b="0">
                <a:solidFill>
                  <a:srgbClr val="444455"/>
                </a:solidFill>
                <a:latin typeface="Calibri"/>
              </a:defRPr>
            </a:pPr>
            <a:r>
              <a:t>▸ Custom dataset: 6,000+ Indian rider images (12,198 augmented)</a:t>
            </a:r>
          </a:p>
          <a:p>
            <a:pPr>
              <a:spcAft>
                <a:spcPts val="200"/>
              </a:spcAft>
              <a:defRPr sz="1050" b="0">
                <a:solidFill>
                  <a:srgbClr val="444455"/>
                </a:solidFill>
                <a:latin typeface="Calibri"/>
              </a:defRPr>
            </a:pPr>
            <a:r>
              <a:t>▸ Sliding Window (10-sec / 50 frames) for decision stability</a:t>
            </a:r>
          </a:p>
          <a:p>
            <a:pPr>
              <a:spcAft>
                <a:spcPts val="200"/>
              </a:spcAft>
              <a:defRPr sz="1050" b="0">
                <a:solidFill>
                  <a:srgbClr val="444455"/>
                </a:solidFill>
                <a:latin typeface="Calibri"/>
              </a:defRPr>
            </a:pPr>
            <a:r>
              <a:t>▸ Confidence% = (Helmet frames ÷ Total frames) × 100</a:t>
            </a:r>
          </a:p>
          <a:p>
            <a:pPr>
              <a:spcAft>
                <a:spcPts val="200"/>
              </a:spcAft>
              <a:defRPr sz="1050" b="0">
                <a:solidFill>
                  <a:srgbClr val="444455"/>
                </a:solidFill>
                <a:latin typeface="Calibri"/>
              </a:defRPr>
            </a:pPr>
            <a:r>
              <a:t>▸ ≥ 70% → SAFE (Green LED) | &lt; 70% → UNSAFE (Red LED)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Training Configuration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297680"/>
          <a:ext cx="5120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1737360"/>
              </a:tblGrid>
              <a:tr h="2895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1 (Base)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2 (Fine-tune)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Input Size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224×224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224×224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Optimizer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SGD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Adam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Cosine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1×10⁻³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600200"/>
            <a:ext cx="5303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600" b="1">
                <a:solidFill>
                  <a:srgbClr val="1B6BB5"/>
                </a:solidFill>
                <a:latin typeface="Calibri"/>
              </a:defRPr>
            </a:pPr>
            <a:r>
              <a:t>Technology Stack &amp;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303520" cy="9601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9377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222233"/>
                </a:solidFill>
                <a:latin typeface="Calibri"/>
              </a:defRPr>
            </a:pPr>
            <a:r>
              <a:t>⚡ Hardware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93776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444455"/>
                </a:solidFill>
                <a:latin typeface="Calibri"/>
              </a:defRPr>
            </a:pPr>
            <a:r>
              <a:t>ESP32-S3 N16R8 (16MB Flash, 8MB PSRAM) • OV2640/OV3660 Camera • 5V Relay • LM2596 Converter • IR LEDs (Total: ~₹2,000)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303520" cy="9601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9377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222233"/>
                </a:solidFill>
                <a:latin typeface="Calibri"/>
              </a:defRPr>
            </a:pPr>
            <a:r>
              <a:t>🤖 AI &amp; Software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493776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444455"/>
                </a:solidFill>
                <a:latin typeface="Calibri"/>
              </a:defRPr>
            </a:pPr>
            <a:r>
              <a:t>YOLOv8-nano → ONNX → TFLite INT8 (~1 MB) • C++/MicroPython firmware • OpenCV preprocessing • 50-frame sliding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14800"/>
            <a:ext cx="5303520" cy="192024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✅ Final Model Performance (115 Epochs)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1">
                <a:solidFill>
                  <a:srgbClr val="444455"/>
                </a:solidFill>
                <a:latin typeface="Calibri"/>
              </a:defRPr>
            </a:pPr>
            <a:r>
              <a:t>Precision: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1">
                <a:solidFill>
                  <a:srgbClr val="16A34A"/>
                </a:solidFill>
                <a:latin typeface="Calibri"/>
              </a:defRPr>
            </a:pPr>
            <a:r>
              <a:t>99.87%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9204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1">
                <a:solidFill>
                  <a:srgbClr val="444455"/>
                </a:solidFill>
                <a:latin typeface="Calibri"/>
              </a:defRPr>
            </a:pPr>
            <a:r>
              <a:t>Recall: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92040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1">
                <a:solidFill>
                  <a:srgbClr val="16A34A"/>
                </a:solidFill>
                <a:latin typeface="Calibri"/>
              </a:defRPr>
            </a:pPr>
            <a:r>
              <a:t>97.96%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1208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1">
                <a:solidFill>
                  <a:srgbClr val="444455"/>
                </a:solidFill>
                <a:latin typeface="Calibri"/>
              </a:defRPr>
            </a:pPr>
            <a:r>
              <a:t>mAP@50: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212080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1">
                <a:solidFill>
                  <a:srgbClr val="16A34A"/>
                </a:solidFill>
                <a:latin typeface="Calibri"/>
              </a:defRPr>
            </a:pPr>
            <a:r>
              <a:t>97.50%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3212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1">
                <a:solidFill>
                  <a:srgbClr val="444455"/>
                </a:solidFill>
                <a:latin typeface="Calibri"/>
              </a:defRPr>
            </a:pPr>
            <a:r>
              <a:t>Box Loss: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532120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1">
                <a:solidFill>
                  <a:srgbClr val="16A34A"/>
                </a:solidFill>
                <a:latin typeface="Calibri"/>
              </a:defRPr>
            </a:pPr>
            <a:r>
              <a:t>0.719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57200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1">
                <a:solidFill>
                  <a:srgbClr val="444455"/>
                </a:solidFill>
                <a:latin typeface="Calibri"/>
              </a:defRPr>
            </a:pPr>
            <a:r>
              <a:t>Cls Loss: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572000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1">
                <a:solidFill>
                  <a:srgbClr val="16A34A"/>
                </a:solidFill>
                <a:latin typeface="Calibri"/>
              </a:defRPr>
            </a:pPr>
            <a:r>
              <a:t>0.528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89204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1">
                <a:solidFill>
                  <a:srgbClr val="444455"/>
                </a:solidFill>
                <a:latin typeface="Calibri"/>
              </a:defRPr>
            </a:pPr>
            <a:r>
              <a:t>Inference (Browser):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892040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1">
                <a:solidFill>
                  <a:srgbClr val="16A34A"/>
                </a:solidFill>
                <a:latin typeface="Calibri"/>
              </a:defRPr>
            </a:pPr>
            <a:r>
              <a:t>&lt;300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21208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1">
                <a:solidFill>
                  <a:srgbClr val="444455"/>
                </a:solidFill>
                <a:latin typeface="Calibri"/>
              </a:defRPr>
            </a:pPr>
            <a:r>
              <a:t>Model Size (ONNX):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5212080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1">
                <a:solidFill>
                  <a:srgbClr val="16A34A"/>
                </a:solidFill>
                <a:latin typeface="Calibri"/>
              </a:defRPr>
            </a:pPr>
            <a:r>
              <a:t>~12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553212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1">
                <a:solidFill>
                  <a:srgbClr val="444455"/>
                </a:solidFill>
                <a:latin typeface="Calibri"/>
              </a:defRPr>
            </a:pPr>
            <a:r>
              <a:t>Model Size (TFLite):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5532120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1">
                <a:solidFill>
                  <a:srgbClr val="16A34A"/>
                </a:solidFill>
                <a:latin typeface="Calibri"/>
              </a:defRPr>
            </a:pPr>
            <a:r>
              <a:t>~1 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600" b="1">
                <a:solidFill>
                  <a:srgbClr val="222233"/>
                </a:solidFill>
                <a:latin typeface="Calibri"/>
              </a:defRPr>
            </a:pPr>
            <a:r>
              <a:t>Training Convergence &amp; 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109728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YOLOv8-nano — Custom trained on 6,000+ images (12,198 augmented) for Indian road conditions</a:t>
            </a:r>
          </a:p>
        </p:txBody>
      </p:sp>
      <p:pic>
        <p:nvPicPr>
          <p:cNvPr id="6" name="Picture 5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675120" cy="3337560"/>
          </a:xfrm>
          <a:prstGeom prst="rect">
            <a:avLst/>
          </a:prstGeom>
        </p:spPr>
      </p:pic>
      <p:pic>
        <p:nvPicPr>
          <p:cNvPr id="7" name="Picture 6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737360"/>
            <a:ext cx="4453128" cy="3337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138928"/>
            <a:ext cx="66751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950" b="0">
                <a:solidFill>
                  <a:srgbClr val="888899"/>
                </a:solidFill>
                <a:latin typeface="Calibri"/>
              </a:defRPr>
            </a:pPr>
            <a:r>
              <a:t>Fig 1: Training loss curves (Box loss: 0.719, Cls loss: 0.528) over fine-tuning 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5138928"/>
            <a:ext cx="4453128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950" b="0">
                <a:solidFill>
                  <a:srgbClr val="888899"/>
                </a:solidFill>
                <a:latin typeface="Calibri"/>
              </a:defRPr>
            </a:pPr>
            <a:r>
              <a:t>Fig 2: Normalized Confusion Matrix on Validation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53212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23560"/>
            <a:ext cx="521208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444455"/>
                </a:solidFill>
                <a:latin typeface="Calibri"/>
              </a:defRPr>
            </a:pPr>
            <a:r>
              <a:t>📈 High Accuracy Convergence: Box loss dropped to 0.719 and Cls loss to 0.528 over 115 total epochs, demonstrating stable learning without overfitting.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53212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5623560"/>
            <a:ext cx="521208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444455"/>
                </a:solidFill>
                <a:latin typeface="Calibri"/>
              </a:defRPr>
            </a:pPr>
            <a:r>
              <a:t>🎯 99.87% Precision Benchmark: Confusion matrix confirms 99.87% precision for helmet detection — critical for an interlock system to prevent false blocks.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Precision-Recall &amp; F1-Score Analysis</a:t>
            </a:r>
          </a:p>
        </p:txBody>
      </p:sp>
      <p:pic>
        <p:nvPicPr>
          <p:cNvPr id="5" name="Picture 4" descr="Box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389120" cy="2926080"/>
          </a:xfrm>
          <a:prstGeom prst="rect">
            <a:avLst/>
          </a:prstGeom>
        </p:spPr>
      </p:pic>
      <p:pic>
        <p:nvPicPr>
          <p:cNvPr id="6" name="Picture 5" descr="BoxF1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438912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26280"/>
            <a:ext cx="51206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950" b="0">
                <a:solidFill>
                  <a:srgbClr val="888899"/>
                </a:solidFill>
                <a:latin typeface="Calibri"/>
              </a:defRPr>
            </a:pPr>
            <a:r>
              <a:t>Precision-Recall Curve (mAP@50 = 97.50%)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26280"/>
            <a:ext cx="51206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950" b="0">
                <a:solidFill>
                  <a:srgbClr val="888899"/>
                </a:solidFill>
                <a:latin typeface="Calibri"/>
              </a:defRPr>
            </a:pPr>
            <a:r>
              <a:t>F1-Score Curve — Optimal operating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51206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B6BB5"/>
                </a:solidFill>
                <a:latin typeface="Calibri"/>
              </a:defRPr>
            </a:pPr>
            <a:r>
              <a:t>Accuracy Across Lighting Conditions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212080"/>
          <a:ext cx="51206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</a:tblGrid>
              <a:tr h="26289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Daylight (Clear)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0.975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Dusk / Dawn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0.920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Night (IR-assist)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0.865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17920" y="5029200"/>
            <a:ext cx="5303520" cy="123444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120640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Calibri"/>
              </a:defRPr>
            </a:pPr>
            <a:r>
              <a:t>💡 Zero False Positive Tolerance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440680"/>
            <a:ext cx="493776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99.87% precision means virtually zero false positive triggers — preventing unnecessary ignition blocks for safe riders, which is critical for real-world user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SAFETY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Real-Time Monitoring &amp; Progressive Safety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Phase 1: Pre-Start Check (10 seconds)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Camera scans rider before ignition (50 frames)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≥70% helmet confidence → Engine starts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&lt;70% → Engine blocked + buzzer alert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Phase 2: Continuous Monitoring (during ride)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Every second: update 10-sec sliding window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If helmet removed → Progressive response triggers</a:t>
            </a:r>
          </a:p>
          <a:p>
            <a:pPr>
              <a:spcAft>
                <a:spcPts val="300"/>
              </a:spcAft>
              <a:defRPr sz="1100" b="0">
                <a:solidFill>
                  <a:srgbClr val="444455"/>
                </a:solidFill>
                <a:latin typeface="Calibri"/>
              </a:defRPr>
            </a:pPr>
            <a:r>
              <a:t>▸ Gradual — never sudden engine cutoff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31089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⚡ Step 1: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310896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Audio buzzer + Red LED alert</a:t>
            </a:r>
            <a:br/>
            <a:r>
              <a:t>(0–15 seconds grace period)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429000"/>
            <a:ext cx="31089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⚡ Step 2: Deceleration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60"/>
            <a:ext cx="310896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Gradual intermittent relay cuts</a:t>
            </a:r>
            <a:br/>
            <a:r>
              <a:t>causing engine speed reduction (15–45s)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2918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429000"/>
            <a:ext cx="31089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⚡ Step 3: Controlled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94760"/>
            <a:ext cx="310896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Complete relay disconnect</a:t>
            </a:r>
            <a:br/>
            <a:r>
              <a:t>Safe vehicle stop — NOT sudden cutoff (&gt;45s)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10972800" cy="12344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🚨 Emergency Override 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060704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Time-limited bypass (logged internally) for critical situations. Override events stored with timestamp for audit trail. Prevents misuse while ensuring real-world flexibility.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COST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Bill of Materials — ESP32 Embedded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9144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0">
                <a:solidFill>
                  <a:srgbClr val="444455"/>
                </a:solidFill>
                <a:latin typeface="Calibri"/>
              </a:defRPr>
            </a:pPr>
            <a:r>
              <a:t>Direct ESP32-S3 deployment — production-ready embedded system under ₹2,000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6858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2560320"/>
                <a:gridCol w="1554480"/>
              </a:tblGrid>
              <a:tr h="3581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(₹)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ESP32-S3 N16R8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16MB Flash, 8MB PSRAM MCU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800–1,000</a:t>
                      </a:r>
                    </a:p>
                  </a:txBody>
                  <a:tcPr/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OV3660 NoIR Camera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3MP, DVP, IR removed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400–600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IR LED Module (850nm)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2–3 units for night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50–80</a:t>
                      </a:r>
                    </a:p>
                  </a:txBody>
                  <a:tcPr/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5V Relay Module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Opto-isolated, 1-ch, 10A/250V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LM2596 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12V → 5V, 3A step-down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Active Buzzer (5V)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Warning sound indicator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LEDs (Green + Red) + 220Ω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Status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Push Button (Momentary)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Emergency bypass switch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Waterproof Enclosure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ABS, IP-rated casing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Fuse Holder + Wiring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2A inline fuse + harness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TOTAL PER UNIT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₹1,900 – ₹2,200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920240"/>
            <a:ext cx="4114800" cy="164592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057400"/>
            <a:ext cx="3749039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  <a:latin typeface="Calibri"/>
              </a:defRPr>
            </a:pPr>
            <a:r>
              <a:t>💰 Under ₹2,000 Cost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377440"/>
            <a:ext cx="3749039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• Manufacturing: ₹1,900 – ₹2,200/unit</a:t>
            </a:r>
            <a:br/>
            <a:r>
              <a:t>• Target Price: ₹2,500 – ₹3,500</a:t>
            </a:r>
            <a:br/>
            <a:r>
              <a:t>• High profit margin at mass scale</a:t>
            </a:r>
            <a:br/>
            <a:r>
              <a:t>• Compact &amp; vehicle-mountable</a:t>
            </a:r>
            <a:br/>
            <a:r>
              <a:t>• No OS — instant boot</a:t>
            </a:r>
            <a:br/>
            <a:r>
              <a:t>• Waterproof IP-rated enclosure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794760"/>
            <a:ext cx="411480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B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886200"/>
            <a:ext cx="3749039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300" b="1">
                <a:solidFill>
                  <a:srgbClr val="1B6BB5"/>
                </a:solidFill>
                <a:latin typeface="Calibri"/>
              </a:defRPr>
            </a:pPr>
            <a:r>
              <a:t>🔑 Why Direct ESP32?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206240"/>
            <a:ext cx="3749039" cy="685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• No high-cost single-board computer</a:t>
            </a:r>
            <a:br/>
            <a:r>
              <a:t>• Firmware-based — runs directly on MCU</a:t>
            </a:r>
            <a:br/>
            <a:r>
              <a:t>• Quantized TFLite INT8 model (~1 MB)</a:t>
            </a:r>
            <a:br/>
            <a:r>
              <a:t>• Instant boot time upon ignition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5120640"/>
            <a:ext cx="4114800" cy="10972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5212080"/>
            <a:ext cx="3749039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🏆 SSIP Grant Secured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532120"/>
            <a:ext cx="3749039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INR ₹16,000 prototype grant awarded by Student Startup &amp; Innovation Policy (SSIP), Gujarat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INNOVATION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Innovation &amp; Uniqueness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600" b="1">
                <a:solidFill>
                  <a:srgbClr val="1B6BB5"/>
                </a:solidFill>
                <a:latin typeface="Calibri"/>
              </a:defRPr>
            </a:pPr>
            <a:r>
              <a:t>Existing Approaches vs. Helixo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10972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017520"/>
                <a:gridCol w="3657600"/>
              </a:tblGrid>
              <a:tr h="53035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Helixo AI Advantage</a:t>
                      </a:r>
                    </a:p>
                  </a:txBody>
                  <a:tcPr>
                    <a:solidFill>
                      <a:srgbClr val="1B6BB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Traffic Cameras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(Roadside CNN)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Surveillance camera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Post-facto fines only;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fixed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Proactive: Prevents ignition</a:t>
                      </a:r>
                    </a:p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before ride starts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RFID Smart Helmets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Embedded passive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tags + vehicle reader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Requires custom ₹3K+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tagged helmets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Works with ANY standard</a:t>
                      </a:r>
                    </a:p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off-the-shelf helmet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Bluetooth Helmets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BLE proximity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pairing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Pairing dependency;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battery drain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Zero connectivity needed;</a:t>
                      </a:r>
                    </a:p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fully offline AI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Heavy CNN Models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(Roadside 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Server-side GPU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Accuracy drops in</a:t>
                      </a:r>
                    </a:p>
                    <a:p>
                      <a:pPr>
                        <a:defRPr sz="950">
                          <a:solidFill>
                            <a:srgbClr val="444455"/>
                          </a:solidFill>
                          <a:latin typeface="Calibri"/>
                        </a:defRPr>
                      </a:pPr>
                      <a:r>
                        <a:t>low-light; costly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Lightweight YOLOv8-nano</a:t>
                      </a:r>
                    </a:p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on ₹2K edge hardware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Single Most Novel Element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6636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60704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Shift from "Reactive Surveillance" to "Proactive Interlock" using offline edge computing.</a:t>
            </a:r>
            <a:br/>
            <a:br/>
            <a:r>
              <a:t>The entire system processes visually ON the motorcycle via a ₹2,000 microcontroller, requiring zero cloud connectivity, making it foolproof and universally accessible. This has the potential to become a mandatory factory-standard safety accessory — similar to how seatbelt interlocks and ABS evolved in 4-wheelers.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800" b="1">
                <a:solidFill>
                  <a:srgbClr val="222233"/>
                </a:solidFill>
                <a:latin typeface="Calibri"/>
              </a:defRPr>
            </a:pPr>
            <a:r>
              <a:t>Expected Impact &amp; Scaling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🏍️  For the Rider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2"/>
            <a:ext cx="493776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Physically prevents fatal head injuries before the ride begins. No reliance on external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🏛️  For the Government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93776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Enforces 100% permanent helmet compliance without expensive police deployments or camera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👥  For the Masses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02152"/>
            <a:ext cx="493776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Protects low-income demographics by keeping safety affordable — uses any standard helmet they already 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6324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400" b="1">
                <a:solidFill>
                  <a:srgbClr val="1B6BB5"/>
                </a:solidFill>
                <a:latin typeface="Calibri"/>
              </a:defRPr>
            </a:pPr>
            <a:r>
              <a:t>🏭  For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02152"/>
            <a:ext cx="493776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Designed to become mandatory factory-standard safety accessory for two-wheeler manufacturers.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09160"/>
            <a:ext cx="9144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600" b="1">
                <a:solidFill>
                  <a:srgbClr val="1B6BB5"/>
                </a:solidFill>
                <a:latin typeface="Calibri"/>
              </a:defRPr>
            </a:pPr>
            <a:r>
              <a:t>🚀 Scaling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34747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📍 GPS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21808"/>
            <a:ext cx="3200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Location tracking &amp; geo-fenced enforcement zones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5120640"/>
            <a:ext cx="34747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💸 Insurance Discounts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5321808"/>
            <a:ext cx="3200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Compliance data for premium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5120640"/>
            <a:ext cx="34747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🏙️ Smart 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5321808"/>
            <a:ext cx="3200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Feed safety data to traffic management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42431"/>
            <a:ext cx="34747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📱 Mobile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599"/>
            <a:ext cx="3200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Ride history, safety score, real-time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5742431"/>
            <a:ext cx="34747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🔧 OEM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5943599"/>
            <a:ext cx="3200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Partner with Hero, TVS, Bajaj for factory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5742431"/>
            <a:ext cx="34747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Calibri"/>
              </a:defRPr>
            </a:pPr>
            <a:r>
              <a:t>🤖 Advanced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5943599"/>
            <a:ext cx="3200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Face recognition, multi-rider detection, helmet type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name="adj" fmla="val 4000"/>
            </a:avLst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2600" b="1">
                <a:solidFill>
                  <a:srgbClr val="222233"/>
                </a:solidFill>
                <a:latin typeface="Calibri"/>
              </a:defRPr>
            </a:pPr>
            <a:r>
              <a:t>Try Helixo AI Live — Scan QR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00" b="0">
                <a:solidFill>
                  <a:srgbClr val="444455"/>
                </a:solidFill>
                <a:latin typeface="Calibri"/>
              </a:defRPr>
            </a:pPr>
            <a:r>
              <a:t>Scan the QR code below using your smartphone camera to test our real-time AI helmet detection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4389120" cy="46634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B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19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69280"/>
            <a:ext cx="40233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300" b="1">
                <a:solidFill>
                  <a:srgbClr val="1B6BB5"/>
                </a:solidFill>
                <a:latin typeface="Calibri"/>
              </a:defRPr>
            </a:pPr>
            <a:r>
              <a:t>📲 Scan to Launch Live Web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40233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950" b="0">
                <a:solidFill>
                  <a:srgbClr val="888899"/>
                </a:solidFill>
                <a:latin typeface="Calibri"/>
              </a:defRPr>
            </a:pPr>
            <a:r>
              <a:t>https://imaginative-kitsune-6e83b9.netlify.app/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691640"/>
            <a:ext cx="6400800" cy="10515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801368"/>
            <a:ext cx="6035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B6BB5"/>
                </a:solidFill>
                <a:latin typeface="Calibri"/>
              </a:defRPr>
            </a:pPr>
            <a:r>
              <a:t>📱 Interactive AI Web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075688"/>
            <a:ext cx="603504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Test real-time helmet detection directly in your mobile browser with live confidence scoring.</a:t>
            </a:r>
            <a:br/>
            <a:r>
              <a:t>URL: https://imaginative-kitsune-6e83b9.netlify.app/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834640"/>
            <a:ext cx="6400800" cy="10515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944368"/>
            <a:ext cx="6035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B6BB5"/>
                </a:solidFill>
                <a:latin typeface="Calibri"/>
              </a:defRPr>
            </a:pPr>
            <a:r>
              <a:t>⚡ Real-Time ONNX Model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218688"/>
            <a:ext cx="603504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Model runs 100% client-side using ONNX Runtime Web with WebGL acceleration for sub-300ms latency on any smartphone or laptop.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3977639"/>
            <a:ext cx="6400800" cy="10515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087367"/>
            <a:ext cx="6035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B6BB5"/>
                </a:solidFill>
                <a:latin typeface="Calibri"/>
              </a:defRPr>
            </a:pPr>
            <a:r>
              <a:t>🔒 100% Client-Side Privacy Guarantee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361687"/>
            <a:ext cx="603504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Zero cloud image uploads — camera feed is processed entirely locally on your browser for complete data privacy and security.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5120640"/>
            <a:ext cx="6400800" cy="10515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5230368"/>
            <a:ext cx="6035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B6BB5"/>
                </a:solidFill>
                <a:latin typeface="Calibri"/>
              </a:defRPr>
            </a:pPr>
            <a:r>
              <a:t>🎯 Try Live Test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504688"/>
            <a:ext cx="603504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444455"/>
                </a:solidFill>
                <a:latin typeface="Calibri"/>
              </a:defRPr>
            </a:pPr>
            <a:r>
              <a:t>Test with full-face helmets, visors up/down, caps, bandanas, or bare heads to observe live confidence percentages and ignition interlock decision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4800" b="1">
                <a:solidFill>
                  <a:srgbClr val="222233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2200" b="0">
                <a:solidFill>
                  <a:srgbClr val="1B6BB5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286000" cy="38100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400" b="0">
                <a:solidFill>
                  <a:srgbClr val="444455"/>
                </a:solidFill>
                <a:latin typeface="Calibri"/>
              </a:defRPr>
            </a:pPr>
            <a:r>
              <a:t>Helixo AI — AI-Based Helmet Detection &amp; Engine Safety Lock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Dr. S. &amp; S.S. Ghandhy Government Engineering College, Surat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9728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Department of Electronics &amp; Communication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300" b="1">
                <a:solidFill>
                  <a:srgbClr val="222233"/>
                </a:solidFill>
                <a:latin typeface="Calibri"/>
              </a:defRPr>
            </a:pPr>
            <a:r>
              <a:t>Team Leader: Arohanjan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200" b="0">
                <a:solidFill>
                  <a:srgbClr val="444455"/>
                </a:solidFill>
                <a:latin typeface="Calibri"/>
              </a:defRPr>
            </a:pPr>
            <a:r>
              <a:t>Team: Arohanjan (ECE)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100" b="0">
                <a:solidFill>
                  <a:srgbClr val="1B6BB5"/>
                </a:solidFill>
                <a:latin typeface="Calibri"/>
              </a:defRPr>
            </a:pPr>
            <a:r>
              <a:t>arohanjan001@gmail.com  |  +91 9023836708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